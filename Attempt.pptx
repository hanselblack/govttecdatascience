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60" r:id="rId3"/>
    <p:sldId id="259" r:id="rId4"/>
    <p:sldId id="26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18"/>
    <p:restoredTop sz="94694"/>
  </p:normalViewPr>
  <p:slideViewPr>
    <p:cSldViewPr snapToGrid="0" snapToObjects="1">
      <p:cViewPr varScale="1">
        <p:scale>
          <a:sx n="121" d="100"/>
          <a:sy n="121" d="100"/>
        </p:scale>
        <p:origin x="8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F0F7E-1A75-FC40-A2AF-429E91C1F61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E6E7628-90B9-9041-81FC-B8DE947F9E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6A91E12-9BFF-C249-88E3-348CF6DC39F5}"/>
              </a:ext>
            </a:extLst>
          </p:cNvPr>
          <p:cNvSpPr>
            <a:spLocks noGrp="1"/>
          </p:cNvSpPr>
          <p:nvPr>
            <p:ph type="dt" sz="half" idx="10"/>
          </p:nvPr>
        </p:nvSpPr>
        <p:spPr/>
        <p:txBody>
          <a:bodyPr/>
          <a:lstStyle/>
          <a:p>
            <a:fld id="{964114B7-0B37-3446-8F87-FF4728FF7E2B}" type="datetimeFigureOut">
              <a:rPr lang="en-US" smtClean="0"/>
              <a:t>3/29/20</a:t>
            </a:fld>
            <a:endParaRPr lang="en-US"/>
          </a:p>
        </p:txBody>
      </p:sp>
      <p:sp>
        <p:nvSpPr>
          <p:cNvPr id="5" name="Footer Placeholder 4">
            <a:extLst>
              <a:ext uri="{FF2B5EF4-FFF2-40B4-BE49-F238E27FC236}">
                <a16:creationId xmlns:a16="http://schemas.microsoft.com/office/drawing/2014/main" id="{40BB1A42-0B64-5B47-A4B5-0E6C2628E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1754A3-E7E6-9745-8307-E457649A944E}"/>
              </a:ext>
            </a:extLst>
          </p:cNvPr>
          <p:cNvSpPr>
            <a:spLocks noGrp="1"/>
          </p:cNvSpPr>
          <p:nvPr>
            <p:ph type="sldNum" sz="quarter" idx="12"/>
          </p:nvPr>
        </p:nvSpPr>
        <p:spPr/>
        <p:txBody>
          <a:bodyPr/>
          <a:lstStyle/>
          <a:p>
            <a:fld id="{2E0A2E93-59CC-8D4B-A08A-A05549C99436}" type="slidenum">
              <a:rPr lang="en-US" smtClean="0"/>
              <a:t>‹#›</a:t>
            </a:fld>
            <a:endParaRPr lang="en-US"/>
          </a:p>
        </p:txBody>
      </p:sp>
    </p:spTree>
    <p:extLst>
      <p:ext uri="{BB962C8B-B14F-4D97-AF65-F5344CB8AC3E}">
        <p14:creationId xmlns:p14="http://schemas.microsoft.com/office/powerpoint/2010/main" val="1163872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C213E-B1A3-A343-ACCA-8CEFFC4C04C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1EA2A52-E708-2347-B0D4-9CAEC1FF50A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94E794B-8F12-AE46-877A-D1692179CD2A}"/>
              </a:ext>
            </a:extLst>
          </p:cNvPr>
          <p:cNvSpPr>
            <a:spLocks noGrp="1"/>
          </p:cNvSpPr>
          <p:nvPr>
            <p:ph type="dt" sz="half" idx="10"/>
          </p:nvPr>
        </p:nvSpPr>
        <p:spPr/>
        <p:txBody>
          <a:bodyPr/>
          <a:lstStyle/>
          <a:p>
            <a:fld id="{964114B7-0B37-3446-8F87-FF4728FF7E2B}" type="datetimeFigureOut">
              <a:rPr lang="en-US" smtClean="0"/>
              <a:t>3/29/20</a:t>
            </a:fld>
            <a:endParaRPr lang="en-US"/>
          </a:p>
        </p:txBody>
      </p:sp>
      <p:sp>
        <p:nvSpPr>
          <p:cNvPr id="5" name="Footer Placeholder 4">
            <a:extLst>
              <a:ext uri="{FF2B5EF4-FFF2-40B4-BE49-F238E27FC236}">
                <a16:creationId xmlns:a16="http://schemas.microsoft.com/office/drawing/2014/main" id="{DFA634AC-51CA-0149-8152-0D83AFA16A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582F55-7E48-6142-B5D1-2074E698FCC0}"/>
              </a:ext>
            </a:extLst>
          </p:cNvPr>
          <p:cNvSpPr>
            <a:spLocks noGrp="1"/>
          </p:cNvSpPr>
          <p:nvPr>
            <p:ph type="sldNum" sz="quarter" idx="12"/>
          </p:nvPr>
        </p:nvSpPr>
        <p:spPr/>
        <p:txBody>
          <a:bodyPr/>
          <a:lstStyle/>
          <a:p>
            <a:fld id="{2E0A2E93-59CC-8D4B-A08A-A05549C99436}" type="slidenum">
              <a:rPr lang="en-US" smtClean="0"/>
              <a:t>‹#›</a:t>
            </a:fld>
            <a:endParaRPr lang="en-US"/>
          </a:p>
        </p:txBody>
      </p:sp>
    </p:spTree>
    <p:extLst>
      <p:ext uri="{BB962C8B-B14F-4D97-AF65-F5344CB8AC3E}">
        <p14:creationId xmlns:p14="http://schemas.microsoft.com/office/powerpoint/2010/main" val="67337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18C6-3610-8049-8724-1985F74DE1B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15A241A-4FE3-FB48-A66B-67AAB6E4E3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5CAAC6E-5B3C-5C40-A086-35214070B544}"/>
              </a:ext>
            </a:extLst>
          </p:cNvPr>
          <p:cNvSpPr>
            <a:spLocks noGrp="1"/>
          </p:cNvSpPr>
          <p:nvPr>
            <p:ph type="dt" sz="half" idx="10"/>
          </p:nvPr>
        </p:nvSpPr>
        <p:spPr/>
        <p:txBody>
          <a:bodyPr/>
          <a:lstStyle/>
          <a:p>
            <a:fld id="{964114B7-0B37-3446-8F87-FF4728FF7E2B}" type="datetimeFigureOut">
              <a:rPr lang="en-US" smtClean="0"/>
              <a:t>3/29/20</a:t>
            </a:fld>
            <a:endParaRPr lang="en-US"/>
          </a:p>
        </p:txBody>
      </p:sp>
      <p:sp>
        <p:nvSpPr>
          <p:cNvPr id="5" name="Footer Placeholder 4">
            <a:extLst>
              <a:ext uri="{FF2B5EF4-FFF2-40B4-BE49-F238E27FC236}">
                <a16:creationId xmlns:a16="http://schemas.microsoft.com/office/drawing/2014/main" id="{C4272880-30AA-9E4D-963C-3A8C0524AE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4E2007-6905-BB4C-9CDB-D066050E4EB1}"/>
              </a:ext>
            </a:extLst>
          </p:cNvPr>
          <p:cNvSpPr>
            <a:spLocks noGrp="1"/>
          </p:cNvSpPr>
          <p:nvPr>
            <p:ph type="sldNum" sz="quarter" idx="12"/>
          </p:nvPr>
        </p:nvSpPr>
        <p:spPr/>
        <p:txBody>
          <a:bodyPr/>
          <a:lstStyle/>
          <a:p>
            <a:fld id="{2E0A2E93-59CC-8D4B-A08A-A05549C99436}" type="slidenum">
              <a:rPr lang="en-US" smtClean="0"/>
              <a:t>‹#›</a:t>
            </a:fld>
            <a:endParaRPr lang="en-US"/>
          </a:p>
        </p:txBody>
      </p:sp>
    </p:spTree>
    <p:extLst>
      <p:ext uri="{BB962C8B-B14F-4D97-AF65-F5344CB8AC3E}">
        <p14:creationId xmlns:p14="http://schemas.microsoft.com/office/powerpoint/2010/main" val="2541837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A9BF6-ECFD-D547-AA70-E24D4913222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13DE377-38B2-6A40-BDF1-D6ABE3413A8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51E16BA-138D-2B46-97C8-EC2621D92C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421E1CE-0CA7-6545-A021-27348F9F281D}"/>
              </a:ext>
            </a:extLst>
          </p:cNvPr>
          <p:cNvSpPr>
            <a:spLocks noGrp="1"/>
          </p:cNvSpPr>
          <p:nvPr>
            <p:ph type="dt" sz="half" idx="10"/>
          </p:nvPr>
        </p:nvSpPr>
        <p:spPr/>
        <p:txBody>
          <a:bodyPr/>
          <a:lstStyle/>
          <a:p>
            <a:fld id="{964114B7-0B37-3446-8F87-FF4728FF7E2B}" type="datetimeFigureOut">
              <a:rPr lang="en-US" smtClean="0"/>
              <a:t>3/29/20</a:t>
            </a:fld>
            <a:endParaRPr lang="en-US"/>
          </a:p>
        </p:txBody>
      </p:sp>
      <p:sp>
        <p:nvSpPr>
          <p:cNvPr id="6" name="Footer Placeholder 5">
            <a:extLst>
              <a:ext uri="{FF2B5EF4-FFF2-40B4-BE49-F238E27FC236}">
                <a16:creationId xmlns:a16="http://schemas.microsoft.com/office/drawing/2014/main" id="{E84333D0-A8D7-D446-A698-F5CEDB877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5E0A07-0114-F24F-B044-C0B37BF21423}"/>
              </a:ext>
            </a:extLst>
          </p:cNvPr>
          <p:cNvSpPr>
            <a:spLocks noGrp="1"/>
          </p:cNvSpPr>
          <p:nvPr>
            <p:ph type="sldNum" sz="quarter" idx="12"/>
          </p:nvPr>
        </p:nvSpPr>
        <p:spPr/>
        <p:txBody>
          <a:bodyPr/>
          <a:lstStyle/>
          <a:p>
            <a:fld id="{2E0A2E93-59CC-8D4B-A08A-A05549C99436}" type="slidenum">
              <a:rPr lang="en-US" smtClean="0"/>
              <a:t>‹#›</a:t>
            </a:fld>
            <a:endParaRPr lang="en-US"/>
          </a:p>
        </p:txBody>
      </p:sp>
    </p:spTree>
    <p:extLst>
      <p:ext uri="{BB962C8B-B14F-4D97-AF65-F5344CB8AC3E}">
        <p14:creationId xmlns:p14="http://schemas.microsoft.com/office/powerpoint/2010/main" val="829104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59694-2C4F-4D45-AA5C-4BE02A1D1E5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0CF3B25-41B6-6B4A-984F-4F77D7B873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433BCC3-B646-7C41-BF36-064727BF095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96DFFD9-17E2-1845-A758-A51040661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A9E43B7-FB2A-F44B-B450-8AFD699FBB6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0E1F3BC-3E18-5142-871C-98BC9A8DD1D1}"/>
              </a:ext>
            </a:extLst>
          </p:cNvPr>
          <p:cNvSpPr>
            <a:spLocks noGrp="1"/>
          </p:cNvSpPr>
          <p:nvPr>
            <p:ph type="dt" sz="half" idx="10"/>
          </p:nvPr>
        </p:nvSpPr>
        <p:spPr/>
        <p:txBody>
          <a:bodyPr/>
          <a:lstStyle/>
          <a:p>
            <a:fld id="{964114B7-0B37-3446-8F87-FF4728FF7E2B}" type="datetimeFigureOut">
              <a:rPr lang="en-US" smtClean="0"/>
              <a:t>3/29/20</a:t>
            </a:fld>
            <a:endParaRPr lang="en-US"/>
          </a:p>
        </p:txBody>
      </p:sp>
      <p:sp>
        <p:nvSpPr>
          <p:cNvPr id="8" name="Footer Placeholder 7">
            <a:extLst>
              <a:ext uri="{FF2B5EF4-FFF2-40B4-BE49-F238E27FC236}">
                <a16:creationId xmlns:a16="http://schemas.microsoft.com/office/drawing/2014/main" id="{62E9FF3E-4D4D-6C44-87EF-324660D193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9AAF28-DC12-6040-8C26-875217EEC243}"/>
              </a:ext>
            </a:extLst>
          </p:cNvPr>
          <p:cNvSpPr>
            <a:spLocks noGrp="1"/>
          </p:cNvSpPr>
          <p:nvPr>
            <p:ph type="sldNum" sz="quarter" idx="12"/>
          </p:nvPr>
        </p:nvSpPr>
        <p:spPr/>
        <p:txBody>
          <a:bodyPr/>
          <a:lstStyle/>
          <a:p>
            <a:fld id="{2E0A2E93-59CC-8D4B-A08A-A05549C99436}" type="slidenum">
              <a:rPr lang="en-US" smtClean="0"/>
              <a:t>‹#›</a:t>
            </a:fld>
            <a:endParaRPr lang="en-US"/>
          </a:p>
        </p:txBody>
      </p:sp>
    </p:spTree>
    <p:extLst>
      <p:ext uri="{BB962C8B-B14F-4D97-AF65-F5344CB8AC3E}">
        <p14:creationId xmlns:p14="http://schemas.microsoft.com/office/powerpoint/2010/main" val="494081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90C02-D9FC-D74A-92C1-D883A47B7EC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D3FC0FA-CA8B-F64A-80F5-AC12CAA33FC7}"/>
              </a:ext>
            </a:extLst>
          </p:cNvPr>
          <p:cNvSpPr>
            <a:spLocks noGrp="1"/>
          </p:cNvSpPr>
          <p:nvPr>
            <p:ph type="dt" sz="half" idx="10"/>
          </p:nvPr>
        </p:nvSpPr>
        <p:spPr/>
        <p:txBody>
          <a:bodyPr/>
          <a:lstStyle/>
          <a:p>
            <a:fld id="{964114B7-0B37-3446-8F87-FF4728FF7E2B}" type="datetimeFigureOut">
              <a:rPr lang="en-US" smtClean="0"/>
              <a:t>3/29/20</a:t>
            </a:fld>
            <a:endParaRPr lang="en-US"/>
          </a:p>
        </p:txBody>
      </p:sp>
      <p:sp>
        <p:nvSpPr>
          <p:cNvPr id="4" name="Footer Placeholder 3">
            <a:extLst>
              <a:ext uri="{FF2B5EF4-FFF2-40B4-BE49-F238E27FC236}">
                <a16:creationId xmlns:a16="http://schemas.microsoft.com/office/drawing/2014/main" id="{A861D862-E50E-9F41-9795-E428D90F8A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ADCE20-3ACA-9B4A-AB5E-B1230B5D0C09}"/>
              </a:ext>
            </a:extLst>
          </p:cNvPr>
          <p:cNvSpPr>
            <a:spLocks noGrp="1"/>
          </p:cNvSpPr>
          <p:nvPr>
            <p:ph type="sldNum" sz="quarter" idx="12"/>
          </p:nvPr>
        </p:nvSpPr>
        <p:spPr/>
        <p:txBody>
          <a:bodyPr/>
          <a:lstStyle/>
          <a:p>
            <a:fld id="{2E0A2E93-59CC-8D4B-A08A-A05549C99436}" type="slidenum">
              <a:rPr lang="en-US" smtClean="0"/>
              <a:t>‹#›</a:t>
            </a:fld>
            <a:endParaRPr lang="en-US"/>
          </a:p>
        </p:txBody>
      </p:sp>
    </p:spTree>
    <p:extLst>
      <p:ext uri="{BB962C8B-B14F-4D97-AF65-F5344CB8AC3E}">
        <p14:creationId xmlns:p14="http://schemas.microsoft.com/office/powerpoint/2010/main" val="172714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F36BB9-963C-4D4D-A5CA-778323D60195}"/>
              </a:ext>
            </a:extLst>
          </p:cNvPr>
          <p:cNvSpPr>
            <a:spLocks noGrp="1"/>
          </p:cNvSpPr>
          <p:nvPr>
            <p:ph type="dt" sz="half" idx="10"/>
          </p:nvPr>
        </p:nvSpPr>
        <p:spPr/>
        <p:txBody>
          <a:bodyPr/>
          <a:lstStyle/>
          <a:p>
            <a:fld id="{964114B7-0B37-3446-8F87-FF4728FF7E2B}" type="datetimeFigureOut">
              <a:rPr lang="en-US" smtClean="0"/>
              <a:t>3/29/20</a:t>
            </a:fld>
            <a:endParaRPr lang="en-US"/>
          </a:p>
        </p:txBody>
      </p:sp>
      <p:sp>
        <p:nvSpPr>
          <p:cNvPr id="3" name="Footer Placeholder 2">
            <a:extLst>
              <a:ext uri="{FF2B5EF4-FFF2-40B4-BE49-F238E27FC236}">
                <a16:creationId xmlns:a16="http://schemas.microsoft.com/office/drawing/2014/main" id="{4F026400-8179-2443-A24E-7A394E2FE9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DA93F5-E3F8-414F-B9E3-1196153F9115}"/>
              </a:ext>
            </a:extLst>
          </p:cNvPr>
          <p:cNvSpPr>
            <a:spLocks noGrp="1"/>
          </p:cNvSpPr>
          <p:nvPr>
            <p:ph type="sldNum" sz="quarter" idx="12"/>
          </p:nvPr>
        </p:nvSpPr>
        <p:spPr/>
        <p:txBody>
          <a:bodyPr/>
          <a:lstStyle/>
          <a:p>
            <a:fld id="{2E0A2E93-59CC-8D4B-A08A-A05549C99436}" type="slidenum">
              <a:rPr lang="en-US" smtClean="0"/>
              <a:t>‹#›</a:t>
            </a:fld>
            <a:endParaRPr lang="en-US"/>
          </a:p>
        </p:txBody>
      </p:sp>
    </p:spTree>
    <p:extLst>
      <p:ext uri="{BB962C8B-B14F-4D97-AF65-F5344CB8AC3E}">
        <p14:creationId xmlns:p14="http://schemas.microsoft.com/office/powerpoint/2010/main" val="2742674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BD6B0-E637-9A46-92A4-11D38CA155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EE58764-61FD-6F49-9735-603122C047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E4EFCDB-77D2-4942-8BD4-3AF89C6908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70BB680-B1BC-6D4D-A1DE-1FFEAE8B63F5}"/>
              </a:ext>
            </a:extLst>
          </p:cNvPr>
          <p:cNvSpPr>
            <a:spLocks noGrp="1"/>
          </p:cNvSpPr>
          <p:nvPr>
            <p:ph type="dt" sz="half" idx="10"/>
          </p:nvPr>
        </p:nvSpPr>
        <p:spPr/>
        <p:txBody>
          <a:bodyPr/>
          <a:lstStyle/>
          <a:p>
            <a:fld id="{964114B7-0B37-3446-8F87-FF4728FF7E2B}" type="datetimeFigureOut">
              <a:rPr lang="en-US" smtClean="0"/>
              <a:t>3/29/20</a:t>
            </a:fld>
            <a:endParaRPr lang="en-US"/>
          </a:p>
        </p:txBody>
      </p:sp>
      <p:sp>
        <p:nvSpPr>
          <p:cNvPr id="6" name="Footer Placeholder 5">
            <a:extLst>
              <a:ext uri="{FF2B5EF4-FFF2-40B4-BE49-F238E27FC236}">
                <a16:creationId xmlns:a16="http://schemas.microsoft.com/office/drawing/2014/main" id="{B5EDA13D-909F-B24F-B172-E56EF6E470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551EEE-A7A7-4947-9367-AB60ACAF9678}"/>
              </a:ext>
            </a:extLst>
          </p:cNvPr>
          <p:cNvSpPr>
            <a:spLocks noGrp="1"/>
          </p:cNvSpPr>
          <p:nvPr>
            <p:ph type="sldNum" sz="quarter" idx="12"/>
          </p:nvPr>
        </p:nvSpPr>
        <p:spPr/>
        <p:txBody>
          <a:bodyPr/>
          <a:lstStyle/>
          <a:p>
            <a:fld id="{2E0A2E93-59CC-8D4B-A08A-A05549C99436}" type="slidenum">
              <a:rPr lang="en-US" smtClean="0"/>
              <a:t>‹#›</a:t>
            </a:fld>
            <a:endParaRPr lang="en-US"/>
          </a:p>
        </p:txBody>
      </p:sp>
    </p:spTree>
    <p:extLst>
      <p:ext uri="{BB962C8B-B14F-4D97-AF65-F5344CB8AC3E}">
        <p14:creationId xmlns:p14="http://schemas.microsoft.com/office/powerpoint/2010/main" val="2900640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187B7-3F62-DE43-93B8-A864A8236C8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876FC1D-2DF4-5448-93C5-81DE7780C7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DFFADC-B903-2840-9B59-94C2FB810B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81E0FBD-0A93-A144-8BC5-BB093D9D5760}"/>
              </a:ext>
            </a:extLst>
          </p:cNvPr>
          <p:cNvSpPr>
            <a:spLocks noGrp="1"/>
          </p:cNvSpPr>
          <p:nvPr>
            <p:ph type="dt" sz="half" idx="10"/>
          </p:nvPr>
        </p:nvSpPr>
        <p:spPr/>
        <p:txBody>
          <a:bodyPr/>
          <a:lstStyle/>
          <a:p>
            <a:fld id="{964114B7-0B37-3446-8F87-FF4728FF7E2B}" type="datetimeFigureOut">
              <a:rPr lang="en-US" smtClean="0"/>
              <a:t>3/29/20</a:t>
            </a:fld>
            <a:endParaRPr lang="en-US"/>
          </a:p>
        </p:txBody>
      </p:sp>
      <p:sp>
        <p:nvSpPr>
          <p:cNvPr id="6" name="Footer Placeholder 5">
            <a:extLst>
              <a:ext uri="{FF2B5EF4-FFF2-40B4-BE49-F238E27FC236}">
                <a16:creationId xmlns:a16="http://schemas.microsoft.com/office/drawing/2014/main" id="{81FAD101-0B3D-F540-A1FF-77A65410FB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ADBF3F-D773-E14D-87B7-73BBAAE08E81}"/>
              </a:ext>
            </a:extLst>
          </p:cNvPr>
          <p:cNvSpPr>
            <a:spLocks noGrp="1"/>
          </p:cNvSpPr>
          <p:nvPr>
            <p:ph type="sldNum" sz="quarter" idx="12"/>
          </p:nvPr>
        </p:nvSpPr>
        <p:spPr/>
        <p:txBody>
          <a:bodyPr/>
          <a:lstStyle/>
          <a:p>
            <a:fld id="{2E0A2E93-59CC-8D4B-A08A-A05549C99436}" type="slidenum">
              <a:rPr lang="en-US" smtClean="0"/>
              <a:t>‹#›</a:t>
            </a:fld>
            <a:endParaRPr lang="en-US"/>
          </a:p>
        </p:txBody>
      </p:sp>
    </p:spTree>
    <p:extLst>
      <p:ext uri="{BB962C8B-B14F-4D97-AF65-F5344CB8AC3E}">
        <p14:creationId xmlns:p14="http://schemas.microsoft.com/office/powerpoint/2010/main" val="795049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75F5F-C517-1E43-AA74-39F10D16FE2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FEA6637-FF63-1043-951F-FBC9440C6D1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5B42A80-2856-314C-9561-A6511E66EBB8}"/>
              </a:ext>
            </a:extLst>
          </p:cNvPr>
          <p:cNvSpPr>
            <a:spLocks noGrp="1"/>
          </p:cNvSpPr>
          <p:nvPr>
            <p:ph type="dt" sz="half" idx="10"/>
          </p:nvPr>
        </p:nvSpPr>
        <p:spPr/>
        <p:txBody>
          <a:bodyPr/>
          <a:lstStyle/>
          <a:p>
            <a:fld id="{964114B7-0B37-3446-8F87-FF4728FF7E2B}" type="datetimeFigureOut">
              <a:rPr lang="en-US" smtClean="0"/>
              <a:t>3/29/20</a:t>
            </a:fld>
            <a:endParaRPr lang="en-US"/>
          </a:p>
        </p:txBody>
      </p:sp>
      <p:sp>
        <p:nvSpPr>
          <p:cNvPr id="5" name="Footer Placeholder 4">
            <a:extLst>
              <a:ext uri="{FF2B5EF4-FFF2-40B4-BE49-F238E27FC236}">
                <a16:creationId xmlns:a16="http://schemas.microsoft.com/office/drawing/2014/main" id="{AE444221-DDAD-6E48-838D-274B5F3ADA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8AB399-B02A-6946-B614-AC097121E522}"/>
              </a:ext>
            </a:extLst>
          </p:cNvPr>
          <p:cNvSpPr>
            <a:spLocks noGrp="1"/>
          </p:cNvSpPr>
          <p:nvPr>
            <p:ph type="sldNum" sz="quarter" idx="12"/>
          </p:nvPr>
        </p:nvSpPr>
        <p:spPr/>
        <p:txBody>
          <a:bodyPr/>
          <a:lstStyle/>
          <a:p>
            <a:fld id="{2E0A2E93-59CC-8D4B-A08A-A05549C99436}" type="slidenum">
              <a:rPr lang="en-US" smtClean="0"/>
              <a:t>‹#›</a:t>
            </a:fld>
            <a:endParaRPr lang="en-US"/>
          </a:p>
        </p:txBody>
      </p:sp>
    </p:spTree>
    <p:extLst>
      <p:ext uri="{BB962C8B-B14F-4D97-AF65-F5344CB8AC3E}">
        <p14:creationId xmlns:p14="http://schemas.microsoft.com/office/powerpoint/2010/main" val="862618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628CDD-4BA2-8840-BB4A-6FC2410BF66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70CC8AE-B589-AB4A-9606-9DD85B149F4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D3064BA-7F00-1C45-A992-B3776FE98789}"/>
              </a:ext>
            </a:extLst>
          </p:cNvPr>
          <p:cNvSpPr>
            <a:spLocks noGrp="1"/>
          </p:cNvSpPr>
          <p:nvPr>
            <p:ph type="dt" sz="half" idx="10"/>
          </p:nvPr>
        </p:nvSpPr>
        <p:spPr/>
        <p:txBody>
          <a:bodyPr/>
          <a:lstStyle/>
          <a:p>
            <a:fld id="{964114B7-0B37-3446-8F87-FF4728FF7E2B}" type="datetimeFigureOut">
              <a:rPr lang="en-US" smtClean="0"/>
              <a:t>3/29/20</a:t>
            </a:fld>
            <a:endParaRPr lang="en-US"/>
          </a:p>
        </p:txBody>
      </p:sp>
      <p:sp>
        <p:nvSpPr>
          <p:cNvPr id="5" name="Footer Placeholder 4">
            <a:extLst>
              <a:ext uri="{FF2B5EF4-FFF2-40B4-BE49-F238E27FC236}">
                <a16:creationId xmlns:a16="http://schemas.microsoft.com/office/drawing/2014/main" id="{701BF0D9-1933-6140-A6FB-FEF7647F8D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0D276F-8BC5-724E-B1DB-100C8B185893}"/>
              </a:ext>
            </a:extLst>
          </p:cNvPr>
          <p:cNvSpPr>
            <a:spLocks noGrp="1"/>
          </p:cNvSpPr>
          <p:nvPr>
            <p:ph type="sldNum" sz="quarter" idx="12"/>
          </p:nvPr>
        </p:nvSpPr>
        <p:spPr/>
        <p:txBody>
          <a:bodyPr/>
          <a:lstStyle/>
          <a:p>
            <a:fld id="{2E0A2E93-59CC-8D4B-A08A-A05549C99436}" type="slidenum">
              <a:rPr lang="en-US" smtClean="0"/>
              <a:t>‹#›</a:t>
            </a:fld>
            <a:endParaRPr lang="en-US"/>
          </a:p>
        </p:txBody>
      </p:sp>
    </p:spTree>
    <p:extLst>
      <p:ext uri="{BB962C8B-B14F-4D97-AF65-F5344CB8AC3E}">
        <p14:creationId xmlns:p14="http://schemas.microsoft.com/office/powerpoint/2010/main" val="537779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73AC61-A8F3-774A-A535-D4A813C378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D37FAD-B73E-3C4C-A279-CB0FE8AF99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FA7D115-07AA-D243-BF2B-303F686471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4114B7-0B37-3446-8F87-FF4728FF7E2B}" type="datetimeFigureOut">
              <a:rPr lang="en-US" smtClean="0"/>
              <a:t>3/29/20</a:t>
            </a:fld>
            <a:endParaRPr lang="en-US"/>
          </a:p>
        </p:txBody>
      </p:sp>
      <p:sp>
        <p:nvSpPr>
          <p:cNvPr id="5" name="Footer Placeholder 4">
            <a:extLst>
              <a:ext uri="{FF2B5EF4-FFF2-40B4-BE49-F238E27FC236}">
                <a16:creationId xmlns:a16="http://schemas.microsoft.com/office/drawing/2014/main" id="{7A1CAE22-1BD2-D04E-936C-8674609981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28313C-B643-5646-A670-5C81B5C8D7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0A2E93-59CC-8D4B-A08A-A05549C99436}" type="slidenum">
              <a:rPr lang="en-US" smtClean="0"/>
              <a:t>‹#›</a:t>
            </a:fld>
            <a:endParaRPr lang="en-US"/>
          </a:p>
        </p:txBody>
      </p:sp>
    </p:spTree>
    <p:extLst>
      <p:ext uri="{BB962C8B-B14F-4D97-AF65-F5344CB8AC3E}">
        <p14:creationId xmlns:p14="http://schemas.microsoft.com/office/powerpoint/2010/main" val="3222610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5D0D4C-5717-FE40-A71F-13A9284471D8}"/>
              </a:ext>
            </a:extLst>
          </p:cNvPr>
          <p:cNvSpPr/>
          <p:nvPr/>
        </p:nvSpPr>
        <p:spPr>
          <a:xfrm>
            <a:off x="731520" y="844805"/>
            <a:ext cx="7891188" cy="1415772"/>
          </a:xfrm>
          <a:prstGeom prst="rect">
            <a:avLst/>
          </a:prstGeom>
        </p:spPr>
        <p:txBody>
          <a:bodyPr wrap="square">
            <a:spAutoFit/>
          </a:bodyPr>
          <a:lstStyle/>
          <a:p>
            <a:pPr indent="-228600">
              <a:lnSpc>
                <a:spcPct val="90000"/>
              </a:lnSpc>
              <a:spcAft>
                <a:spcPts val="600"/>
              </a:spcAft>
              <a:buFont typeface="Arial" panose="020B0604020202020204" pitchFamily="34" charset="0"/>
              <a:buChar char="•"/>
            </a:pPr>
            <a:r>
              <a:rPr lang="en-US" dirty="0"/>
              <a:t>Given the origin, destination and the time in time out, we can get the difference between the time in and time out and used that as the duration for the trip between stations.</a:t>
            </a:r>
          </a:p>
          <a:p>
            <a:pPr indent="-228600">
              <a:lnSpc>
                <a:spcPct val="90000"/>
              </a:lnSpc>
              <a:spcAft>
                <a:spcPts val="600"/>
              </a:spcAft>
              <a:buFont typeface="Arial" panose="020B0604020202020204" pitchFamily="34" charset="0"/>
              <a:buChar char="•"/>
            </a:pPr>
            <a:r>
              <a:rPr lang="en-US" dirty="0"/>
              <a:t>We then take a starting point for example Clementi and its destination and sort them by the traveling duration. This give us the result as follows:</a:t>
            </a:r>
          </a:p>
        </p:txBody>
      </p:sp>
      <p:sp>
        <p:nvSpPr>
          <p:cNvPr id="5" name="Rectangle 4">
            <a:extLst>
              <a:ext uri="{FF2B5EF4-FFF2-40B4-BE49-F238E27FC236}">
                <a16:creationId xmlns:a16="http://schemas.microsoft.com/office/drawing/2014/main" id="{9F94DF59-5122-DA4F-9CF3-578C086E3F17}"/>
              </a:ext>
            </a:extLst>
          </p:cNvPr>
          <p:cNvSpPr/>
          <p:nvPr/>
        </p:nvSpPr>
        <p:spPr>
          <a:xfrm>
            <a:off x="851162" y="2260577"/>
            <a:ext cx="11064240" cy="1323439"/>
          </a:xfrm>
          <a:prstGeom prst="rect">
            <a:avLst/>
          </a:prstGeom>
        </p:spPr>
        <p:txBody>
          <a:bodyPr wrap="square">
            <a:spAutoFit/>
          </a:bodyPr>
          <a:lstStyle/>
          <a:p>
            <a:r>
              <a:rPr lang="en-US" sz="1000" dirty="0"/>
              <a:t>Clementi -&gt; one-north -&gt; Jurong East -&gt; </a:t>
            </a:r>
            <a:r>
              <a:rPr lang="en-US" sz="1000" dirty="0" err="1"/>
              <a:t>Bugis</a:t>
            </a:r>
            <a:r>
              <a:rPr lang="en-US" sz="1000" dirty="0"/>
              <a:t> NSEW -&gt; Dover -&gt; </a:t>
            </a:r>
            <a:r>
              <a:rPr lang="en-US" sz="1000" dirty="0" err="1"/>
              <a:t>Rochor</a:t>
            </a:r>
            <a:r>
              <a:rPr lang="en-US" sz="1000" dirty="0"/>
              <a:t> -&gt; Boon Lay -&gt; </a:t>
            </a:r>
            <a:r>
              <a:rPr lang="en-US" sz="1000" dirty="0" err="1"/>
              <a:t>Buona</a:t>
            </a:r>
            <a:r>
              <a:rPr lang="en-US" sz="1000" dirty="0"/>
              <a:t> Vista NSEW -&gt; </a:t>
            </a:r>
            <a:r>
              <a:rPr lang="en-US" sz="1000" dirty="0" err="1"/>
              <a:t>Buona</a:t>
            </a:r>
            <a:r>
              <a:rPr lang="en-US" sz="1000" dirty="0"/>
              <a:t> Vista CCL -&gt; Commonwealth -&gt; Chinese Garden -&gt; Bukit </a:t>
            </a:r>
            <a:r>
              <a:rPr lang="en-US" sz="1000" dirty="0" err="1"/>
              <a:t>Batok</a:t>
            </a:r>
            <a:r>
              <a:rPr lang="en-US" sz="1000" dirty="0"/>
              <a:t> -&gt; Lakeside -&gt; Queenstown -&gt; Bukit Gombak -&gt; Holland Village -&gt; Kent Ridge -&gt; Redhill -&gt; Tiong Bahru -&gt; </a:t>
            </a:r>
            <a:r>
              <a:rPr lang="en-US" sz="1000" dirty="0" err="1"/>
              <a:t>Choa</a:t>
            </a:r>
            <a:r>
              <a:rPr lang="en-US" sz="1000" dirty="0"/>
              <a:t> Chu Kang -&gt; Farrer Road -&gt; Haw Par Villa -&gt; Pioneer -&gt; Outram Park NSEW -&gt; Botanic Gardens CCL -&gt; </a:t>
            </a:r>
            <a:r>
              <a:rPr lang="en-US" sz="1000" dirty="0" err="1"/>
              <a:t>Joo</a:t>
            </a:r>
            <a:r>
              <a:rPr lang="en-US" sz="1000" dirty="0"/>
              <a:t> Koon -&gt; Yew Tee -&gt; Botanic Gardens DTL -&gt; Tanjong </a:t>
            </a:r>
            <a:r>
              <a:rPr lang="en-US" sz="1000" dirty="0" err="1"/>
              <a:t>Pagar</a:t>
            </a:r>
            <a:r>
              <a:rPr lang="en-US" sz="1000" dirty="0"/>
              <a:t> -&gt; Outram Park NEL -&gt; </a:t>
            </a:r>
            <a:r>
              <a:rPr lang="en-US" sz="1000" dirty="0" err="1"/>
              <a:t>Pasir</a:t>
            </a:r>
            <a:r>
              <a:rPr lang="en-US" sz="1000" dirty="0"/>
              <a:t> Panjang -&gt; </a:t>
            </a:r>
            <a:r>
              <a:rPr lang="en-US" sz="1000" dirty="0" err="1"/>
              <a:t>Kranji</a:t>
            </a:r>
            <a:r>
              <a:rPr lang="en-US" sz="1000" dirty="0"/>
              <a:t> -&gt; Caldecott -&gt; Raffles Place -&gt; Labrador Park -&gt; Chinatown NEL -&gt; Marymount -&gt; Teck </a:t>
            </a:r>
            <a:r>
              <a:rPr lang="en-US" sz="1000" dirty="0" err="1"/>
              <a:t>Whye</a:t>
            </a:r>
            <a:r>
              <a:rPr lang="en-US" sz="1000" dirty="0"/>
              <a:t> -&gt; City Hall -&gt; Newton DTL -&gt; Clarke Quay -&gt; Chinatown DTL -&gt; Marina Bay -&gt; </a:t>
            </a:r>
            <a:r>
              <a:rPr lang="en-US" sz="1000" dirty="0" err="1"/>
              <a:t>HarbourFront</a:t>
            </a:r>
            <a:r>
              <a:rPr lang="en-US" sz="1000" dirty="0"/>
              <a:t> NEL -&gt; Marsiling -&gt; </a:t>
            </a:r>
            <a:r>
              <a:rPr lang="en-US" sz="1000" dirty="0" err="1"/>
              <a:t>HarbourFront</a:t>
            </a:r>
            <a:r>
              <a:rPr lang="en-US" sz="1000" dirty="0"/>
              <a:t> CCL -&gt; </a:t>
            </a:r>
            <a:r>
              <a:rPr lang="en-US" sz="1000" dirty="0" err="1"/>
              <a:t>Telok</a:t>
            </a:r>
            <a:r>
              <a:rPr lang="en-US" sz="1000" dirty="0"/>
              <a:t> Blangah -&gt; Bishan CCL -&gt; Somerset -&gt; </a:t>
            </a:r>
            <a:r>
              <a:rPr lang="en-US" sz="1000" dirty="0" err="1"/>
              <a:t>Telok</a:t>
            </a:r>
            <a:r>
              <a:rPr lang="en-US" sz="1000" dirty="0"/>
              <a:t> Ayer -&gt; </a:t>
            </a:r>
            <a:r>
              <a:rPr lang="en-US" sz="1000" dirty="0" err="1"/>
              <a:t>Dhoby</a:t>
            </a:r>
            <a:r>
              <a:rPr lang="en-US" sz="1000" dirty="0"/>
              <a:t> </a:t>
            </a:r>
            <a:r>
              <a:rPr lang="en-US" sz="1000" dirty="0" err="1"/>
              <a:t>Ghaut</a:t>
            </a:r>
            <a:r>
              <a:rPr lang="en-US" sz="1000" dirty="0"/>
              <a:t> NSEW -&gt; Woodlands -&gt; Downtown -&gt; Lavender -&gt; Serangoon CCL -&gt; </a:t>
            </a:r>
            <a:r>
              <a:rPr lang="en-US" sz="1000" dirty="0" err="1"/>
              <a:t>Braddell</a:t>
            </a:r>
            <a:r>
              <a:rPr lang="en-US" sz="1000" dirty="0"/>
              <a:t> -&gt; Little India NEL -&gt; </a:t>
            </a:r>
            <a:r>
              <a:rPr lang="en-US" sz="1000" dirty="0" err="1"/>
              <a:t>Dhoby</a:t>
            </a:r>
            <a:r>
              <a:rPr lang="en-US" sz="1000" dirty="0"/>
              <a:t> </a:t>
            </a:r>
            <a:r>
              <a:rPr lang="en-US" sz="1000" dirty="0" err="1"/>
              <a:t>Ghaut</a:t>
            </a:r>
            <a:r>
              <a:rPr lang="en-US" sz="1000" dirty="0"/>
              <a:t> NEL -&gt; Lorong </a:t>
            </a:r>
            <a:r>
              <a:rPr lang="en-US" sz="1000" dirty="0" err="1"/>
              <a:t>Chuan</a:t>
            </a:r>
            <a:r>
              <a:rPr lang="en-US" sz="1000" dirty="0"/>
              <a:t> -&gt; Kallang -&gt; Orchard -&gt; Farrer Park -&gt; Bukit Panjang BPLRT -&gt; </a:t>
            </a:r>
            <a:r>
              <a:rPr lang="en-US" sz="1000" dirty="0" err="1"/>
              <a:t>Bugis</a:t>
            </a:r>
            <a:r>
              <a:rPr lang="en-US" sz="1000" dirty="0"/>
              <a:t> DTL -&gt; Bras </a:t>
            </a:r>
            <a:r>
              <a:rPr lang="en-US" sz="1000" dirty="0" err="1"/>
              <a:t>Basah</a:t>
            </a:r>
            <a:r>
              <a:rPr lang="en-US" sz="1000" dirty="0"/>
              <a:t> -&gt; Little India DTL -&gt; Cashew -&gt; Admiralty -&gt; Ang Mo Kio -&gt; </a:t>
            </a:r>
            <a:r>
              <a:rPr lang="en-US" sz="1000" dirty="0" err="1"/>
              <a:t>Aljunied</a:t>
            </a:r>
            <a:r>
              <a:rPr lang="en-US" sz="1000" dirty="0"/>
              <a:t> -&gt; Tai Seng -&gt; Sembawang -&gt; Novena -&gt; Nicoll Highway -&gt; Promenade -&gt; </a:t>
            </a:r>
            <a:r>
              <a:rPr lang="en-US" sz="1000" dirty="0" err="1"/>
              <a:t>Paya</a:t>
            </a:r>
            <a:r>
              <a:rPr lang="en-US" sz="1000" dirty="0"/>
              <a:t> </a:t>
            </a:r>
            <a:r>
              <a:rPr lang="en-US" sz="1000" dirty="0" err="1"/>
              <a:t>Lebar</a:t>
            </a:r>
            <a:r>
              <a:rPr lang="en-US" sz="1000" dirty="0"/>
              <a:t> NSEW -&gt; Bayfront CCL -&gt; Toa </a:t>
            </a:r>
            <a:r>
              <a:rPr lang="en-US" sz="1000" dirty="0" err="1"/>
              <a:t>Payoh</a:t>
            </a:r>
            <a:r>
              <a:rPr lang="en-US" sz="1000" dirty="0"/>
              <a:t> -&gt; </a:t>
            </a:r>
            <a:r>
              <a:rPr lang="en-US" sz="1000" dirty="0" err="1"/>
              <a:t>Yio</a:t>
            </a:r>
            <a:r>
              <a:rPr lang="en-US" sz="1000" dirty="0"/>
              <a:t> Chu Kang -&gt; Boon </a:t>
            </a:r>
            <a:r>
              <a:rPr lang="en-US" sz="1000" dirty="0" err="1"/>
              <a:t>Keng</a:t>
            </a:r>
            <a:r>
              <a:rPr lang="en-US" sz="1000" dirty="0"/>
              <a:t> -&gt; Newton NSEW -&gt; Serangoon NEL -&gt; Eunos -&gt; Yishun -&gt; Marina South Pier -&gt; MacPherson CCL -&gt; Kembangan -&gt; </a:t>
            </a:r>
            <a:r>
              <a:rPr lang="en-US" sz="1000" dirty="0" err="1"/>
              <a:t>Paya</a:t>
            </a:r>
            <a:r>
              <a:rPr lang="en-US" sz="1000" dirty="0"/>
              <a:t> </a:t>
            </a:r>
            <a:r>
              <a:rPr lang="en-US" sz="1000" dirty="0" err="1"/>
              <a:t>Lebar</a:t>
            </a:r>
            <a:r>
              <a:rPr lang="en-US" sz="1000" dirty="0"/>
              <a:t> CCL -&gt; </a:t>
            </a:r>
            <a:r>
              <a:rPr lang="en-US" sz="1000" dirty="0" err="1"/>
              <a:t>Fajar</a:t>
            </a:r>
            <a:r>
              <a:rPr lang="en-US" sz="1000" dirty="0"/>
              <a:t> -&gt; </a:t>
            </a:r>
            <a:r>
              <a:rPr lang="en-US" sz="1000" dirty="0" err="1"/>
              <a:t>Hougang</a:t>
            </a:r>
            <a:r>
              <a:rPr lang="en-US" sz="1000" dirty="0"/>
              <a:t> -&gt; Bedok -&gt; Dakota -&gt; Stadium -&gt; </a:t>
            </a:r>
            <a:r>
              <a:rPr lang="en-US" sz="1000" dirty="0" err="1"/>
              <a:t>Potong</a:t>
            </a:r>
            <a:r>
              <a:rPr lang="en-US" sz="1000" dirty="0"/>
              <a:t> </a:t>
            </a:r>
            <a:r>
              <a:rPr lang="en-US" sz="1000" dirty="0" err="1"/>
              <a:t>Pasir</a:t>
            </a:r>
            <a:r>
              <a:rPr lang="en-US" sz="1000" dirty="0"/>
              <a:t> -&gt; Bayfront DTL -&gt; Tanah Merah -&gt; </a:t>
            </a:r>
            <a:r>
              <a:rPr lang="en-US" sz="1000" dirty="0" err="1"/>
              <a:t>Kovan</a:t>
            </a:r>
            <a:r>
              <a:rPr lang="en-US" sz="1000" dirty="0"/>
              <a:t> -&gt; Khatib -&gt; Expo NSEW -&gt; Mountbatten -&gt; </a:t>
            </a:r>
            <a:r>
              <a:rPr lang="en-US" sz="1000" dirty="0" err="1"/>
              <a:t>Simei</a:t>
            </a:r>
            <a:r>
              <a:rPr lang="en-US" sz="1000" dirty="0"/>
              <a:t> -&gt; Tampines NSEW -&gt; Punggol -&gt; </a:t>
            </a:r>
            <a:r>
              <a:rPr lang="en-US" sz="1000" dirty="0" err="1"/>
              <a:t>Pasir</a:t>
            </a:r>
            <a:r>
              <a:rPr lang="en-US" sz="1000" dirty="0"/>
              <a:t> </a:t>
            </a:r>
            <a:r>
              <a:rPr lang="en-US" sz="1000" dirty="0" err="1"/>
              <a:t>Ris</a:t>
            </a:r>
            <a:r>
              <a:rPr lang="en-US" sz="1000" dirty="0"/>
              <a:t> -&gt; Changi Airport -&gt; Meridian -&gt; </a:t>
            </a:r>
            <a:r>
              <a:rPr lang="en-US" sz="1000" dirty="0" err="1"/>
              <a:t>Fernvale</a:t>
            </a:r>
            <a:r>
              <a:rPr lang="en-US" sz="1000" dirty="0"/>
              <a:t> -&gt; </a:t>
            </a:r>
            <a:r>
              <a:rPr lang="en-US" sz="1000" dirty="0" err="1"/>
              <a:t>Compassvale</a:t>
            </a:r>
            <a:endParaRPr lang="en-US" sz="1000" dirty="0"/>
          </a:p>
        </p:txBody>
      </p:sp>
      <p:pic>
        <p:nvPicPr>
          <p:cNvPr id="6" name="Picture 5">
            <a:extLst>
              <a:ext uri="{FF2B5EF4-FFF2-40B4-BE49-F238E27FC236}">
                <a16:creationId xmlns:a16="http://schemas.microsoft.com/office/drawing/2014/main" id="{059A85F3-E696-1F4D-9E3F-CBDC282F3C8B}"/>
              </a:ext>
            </a:extLst>
          </p:cNvPr>
          <p:cNvPicPr>
            <a:picLocks noChangeAspect="1"/>
          </p:cNvPicPr>
          <p:nvPr/>
        </p:nvPicPr>
        <p:blipFill>
          <a:blip r:embed="rId2"/>
          <a:stretch>
            <a:fillRect/>
          </a:stretch>
        </p:blipFill>
        <p:spPr>
          <a:xfrm>
            <a:off x="910983" y="3702485"/>
            <a:ext cx="3917392" cy="2789853"/>
          </a:xfrm>
          <a:prstGeom prst="rect">
            <a:avLst/>
          </a:prstGeom>
        </p:spPr>
      </p:pic>
      <p:sp>
        <p:nvSpPr>
          <p:cNvPr id="7" name="Rectangle 6">
            <a:extLst>
              <a:ext uri="{FF2B5EF4-FFF2-40B4-BE49-F238E27FC236}">
                <a16:creationId xmlns:a16="http://schemas.microsoft.com/office/drawing/2014/main" id="{0988D5D7-E825-A34C-83F8-2830469AC644}"/>
              </a:ext>
            </a:extLst>
          </p:cNvPr>
          <p:cNvSpPr/>
          <p:nvPr/>
        </p:nvSpPr>
        <p:spPr>
          <a:xfrm>
            <a:off x="5173908" y="4007882"/>
            <a:ext cx="6029629" cy="1089529"/>
          </a:xfrm>
          <a:prstGeom prst="rect">
            <a:avLst/>
          </a:prstGeom>
        </p:spPr>
        <p:txBody>
          <a:bodyPr wrap="square">
            <a:spAutoFit/>
          </a:bodyPr>
          <a:lstStyle/>
          <a:p>
            <a:pPr indent="-228600">
              <a:lnSpc>
                <a:spcPct val="90000"/>
              </a:lnSpc>
              <a:spcAft>
                <a:spcPts val="600"/>
              </a:spcAft>
              <a:buFont typeface="Arial" panose="020B0604020202020204" pitchFamily="34" charset="0"/>
              <a:buChar char="•"/>
            </a:pPr>
            <a:r>
              <a:rPr lang="en-US" dirty="0"/>
              <a:t>Problem came out when there are data consists of multiple origin to destination trips made and using my naïve method to take the shortest time and ignore the rest will cause this issue: </a:t>
            </a:r>
            <a:r>
              <a:rPr lang="en-US" dirty="0" err="1"/>
              <a:t>Bugis</a:t>
            </a:r>
            <a:r>
              <a:rPr lang="en-US" dirty="0"/>
              <a:t> NSEW seems to be an anomaly data.</a:t>
            </a:r>
          </a:p>
        </p:txBody>
      </p:sp>
      <p:sp>
        <p:nvSpPr>
          <p:cNvPr id="8" name="Rectangle 7">
            <a:extLst>
              <a:ext uri="{FF2B5EF4-FFF2-40B4-BE49-F238E27FC236}">
                <a16:creationId xmlns:a16="http://schemas.microsoft.com/office/drawing/2014/main" id="{42A17311-122A-A644-88F3-5C2CF0BE2942}"/>
              </a:ext>
            </a:extLst>
          </p:cNvPr>
          <p:cNvSpPr/>
          <p:nvPr/>
        </p:nvSpPr>
        <p:spPr>
          <a:xfrm>
            <a:off x="5173907" y="5262689"/>
            <a:ext cx="6029629" cy="590931"/>
          </a:xfrm>
          <a:prstGeom prst="rect">
            <a:avLst/>
          </a:prstGeom>
        </p:spPr>
        <p:txBody>
          <a:bodyPr wrap="square">
            <a:spAutoFit/>
          </a:bodyPr>
          <a:lstStyle/>
          <a:p>
            <a:pPr indent="-228600">
              <a:lnSpc>
                <a:spcPct val="90000"/>
              </a:lnSpc>
              <a:spcAft>
                <a:spcPts val="600"/>
              </a:spcAft>
              <a:buFont typeface="Arial" panose="020B0604020202020204" pitchFamily="34" charset="0"/>
              <a:buChar char="•"/>
            </a:pPr>
            <a:r>
              <a:rPr lang="en-US" dirty="0"/>
              <a:t>Solution: we can use the median result and use it as the duration for that particular origin to destination duration</a:t>
            </a:r>
          </a:p>
        </p:txBody>
      </p:sp>
    </p:spTree>
    <p:extLst>
      <p:ext uri="{BB962C8B-B14F-4D97-AF65-F5344CB8AC3E}">
        <p14:creationId xmlns:p14="http://schemas.microsoft.com/office/powerpoint/2010/main" val="3984540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718B67-5C66-1044-98F8-4073BE8CCE15}"/>
              </a:ext>
            </a:extLst>
          </p:cNvPr>
          <p:cNvSpPr/>
          <p:nvPr/>
        </p:nvSpPr>
        <p:spPr>
          <a:xfrm>
            <a:off x="731520" y="844805"/>
            <a:ext cx="7645791" cy="3948773"/>
          </a:xfrm>
          <a:prstGeom prst="rect">
            <a:avLst/>
          </a:prstGeom>
        </p:spPr>
        <p:txBody>
          <a:bodyPr wrap="square">
            <a:spAutoFit/>
          </a:bodyPr>
          <a:lstStyle/>
          <a:p>
            <a:pPr indent="-228600">
              <a:lnSpc>
                <a:spcPct val="90000"/>
              </a:lnSpc>
              <a:spcAft>
                <a:spcPts val="600"/>
              </a:spcAft>
              <a:buFont typeface="Arial" panose="020B0604020202020204" pitchFamily="34" charset="0"/>
              <a:buChar char="•"/>
            </a:pPr>
            <a:r>
              <a:rPr lang="en-US" dirty="0"/>
              <a:t>At this point of time, I noticed that is troublesome to code this out in python loops and should be using a library (pandas) instead to process this set data.</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dirty="0"/>
              <a:t>New Strategy: We can convert the duration from </a:t>
            </a:r>
            <a:r>
              <a:rPr lang="en-US" dirty="0" err="1"/>
              <a:t>hh:mm:ss</a:t>
            </a:r>
            <a:r>
              <a:rPr lang="en-US" dirty="0"/>
              <a:t> to just seconds by using the formula on excel “=RC[-1]*86400” for example. This give us 0:12:24 to 744 seconds instead. Hence, we add that to a new column. </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dirty="0"/>
              <a:t>Next, we can group the origin and destination as 1 group then sort the median of the duration to get the “flat” network.</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p:txBody>
      </p:sp>
    </p:spTree>
    <p:extLst>
      <p:ext uri="{BB962C8B-B14F-4D97-AF65-F5344CB8AC3E}">
        <p14:creationId xmlns:p14="http://schemas.microsoft.com/office/powerpoint/2010/main" val="115553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94BD513-06C2-8047-B0B2-6649E4466F26}"/>
              </a:ext>
            </a:extLst>
          </p:cNvPr>
          <p:cNvSpPr/>
          <p:nvPr/>
        </p:nvSpPr>
        <p:spPr>
          <a:xfrm>
            <a:off x="731520" y="844805"/>
            <a:ext cx="2558611" cy="5444567"/>
          </a:xfrm>
          <a:prstGeom prst="rect">
            <a:avLst/>
          </a:prstGeom>
        </p:spPr>
        <p:txBody>
          <a:bodyPr wrap="square">
            <a:spAutoFit/>
          </a:bodyPr>
          <a:lstStyle/>
          <a:p>
            <a:pPr indent="-228600">
              <a:lnSpc>
                <a:spcPct val="90000"/>
              </a:lnSpc>
              <a:spcAft>
                <a:spcPts val="600"/>
              </a:spcAft>
              <a:buFont typeface="Arial" panose="020B0604020202020204" pitchFamily="34" charset="0"/>
              <a:buChar char="•"/>
            </a:pPr>
            <a:r>
              <a:rPr lang="en-US" dirty="0"/>
              <a:t>At this point, the problem arrives where bi-direction network have an issue.</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dirty="0"/>
              <a:t>For example the results suggests the network in the flow from Clementi -&gt; -&gt; -&gt; to the front  and not the in reverse &lt;- &lt;- &lt;- direction.</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dirty="0"/>
              <a:t>This results in Clementi&gt;Dover&gt;Jurong East.</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p:txBody>
      </p:sp>
      <p:sp>
        <p:nvSpPr>
          <p:cNvPr id="5" name="Rectangle 4">
            <a:extLst>
              <a:ext uri="{FF2B5EF4-FFF2-40B4-BE49-F238E27FC236}">
                <a16:creationId xmlns:a16="http://schemas.microsoft.com/office/drawing/2014/main" id="{17203EE4-7EA5-F14C-89CF-259D5A0F1ED4}"/>
              </a:ext>
            </a:extLst>
          </p:cNvPr>
          <p:cNvSpPr/>
          <p:nvPr/>
        </p:nvSpPr>
        <p:spPr>
          <a:xfrm>
            <a:off x="3197267" y="670251"/>
            <a:ext cx="3233729" cy="5940088"/>
          </a:xfrm>
          <a:prstGeom prst="rect">
            <a:avLst/>
          </a:prstGeom>
        </p:spPr>
        <p:txBody>
          <a:bodyPr wrap="square">
            <a:spAutoFit/>
          </a:bodyPr>
          <a:lstStyle/>
          <a:p>
            <a:r>
              <a:rPr lang="en-US" sz="1000" dirty="0"/>
              <a:t>                     Clementi            206.0</a:t>
            </a:r>
          </a:p>
          <a:p>
            <a:r>
              <a:rPr lang="en-US" sz="1000" dirty="0"/>
              <a:t>                     Dover                    403.5</a:t>
            </a:r>
          </a:p>
          <a:p>
            <a:r>
              <a:rPr lang="en-US" sz="1000" dirty="0"/>
              <a:t>                     Jurong East              453.0</a:t>
            </a:r>
          </a:p>
          <a:p>
            <a:r>
              <a:rPr lang="en-US" sz="1000" dirty="0"/>
              <a:t>                     </a:t>
            </a:r>
            <a:r>
              <a:rPr lang="en-US" sz="1000" dirty="0" err="1"/>
              <a:t>Buona</a:t>
            </a:r>
            <a:r>
              <a:rPr lang="en-US" sz="1000" dirty="0"/>
              <a:t> Vista NSEW         498.0</a:t>
            </a:r>
          </a:p>
          <a:p>
            <a:r>
              <a:rPr lang="en-US" sz="1000" dirty="0"/>
              <a:t>                     Chinese Garden           584.0</a:t>
            </a:r>
          </a:p>
          <a:p>
            <a:r>
              <a:rPr lang="en-US" sz="1000" dirty="0"/>
              <a:t>                     Commonwealth             649.0</a:t>
            </a:r>
          </a:p>
          <a:p>
            <a:r>
              <a:rPr lang="en-US" sz="1000" dirty="0"/>
              <a:t>                     </a:t>
            </a:r>
            <a:r>
              <a:rPr lang="en-US" sz="1000" dirty="0" err="1"/>
              <a:t>Buona</a:t>
            </a:r>
            <a:r>
              <a:rPr lang="en-US" sz="1000" dirty="0"/>
              <a:t> Vista CCL          664.5</a:t>
            </a:r>
          </a:p>
          <a:p>
            <a:r>
              <a:rPr lang="en-US" sz="1000" dirty="0"/>
              <a:t>                     Lakeside                 716.0</a:t>
            </a:r>
          </a:p>
          <a:p>
            <a:r>
              <a:rPr lang="en-US" sz="1000" dirty="0"/>
              <a:t>                     Queenstown               808.0</a:t>
            </a:r>
          </a:p>
          <a:p>
            <a:r>
              <a:rPr lang="en-US" sz="1000" dirty="0"/>
              <a:t>                     Bukit </a:t>
            </a:r>
            <a:r>
              <a:rPr lang="en-US" sz="1000" dirty="0" err="1"/>
              <a:t>Batok</a:t>
            </a:r>
            <a:r>
              <a:rPr lang="en-US" sz="1000" dirty="0"/>
              <a:t>              869.5</a:t>
            </a:r>
          </a:p>
          <a:p>
            <a:r>
              <a:rPr lang="en-US" sz="1000" dirty="0"/>
              <a:t>                     Holland Village          877.0</a:t>
            </a:r>
          </a:p>
          <a:p>
            <a:r>
              <a:rPr lang="en-US" sz="1000" dirty="0"/>
              <a:t>                     one-north                879.0</a:t>
            </a:r>
          </a:p>
          <a:p>
            <a:r>
              <a:rPr lang="en-US" sz="1000" dirty="0"/>
              <a:t>                     Bukit Gombak             890.0</a:t>
            </a:r>
          </a:p>
          <a:p>
            <a:r>
              <a:rPr lang="en-US" sz="1000" dirty="0"/>
              <a:t>                     Haw Par Villa            907.0</a:t>
            </a:r>
          </a:p>
          <a:p>
            <a:r>
              <a:rPr lang="en-US" sz="1000" dirty="0"/>
              <a:t>                     Boon Lay                 915.0</a:t>
            </a:r>
          </a:p>
          <a:p>
            <a:r>
              <a:rPr lang="en-US" sz="1000" dirty="0"/>
              <a:t>                     Redhill                  931.5</a:t>
            </a:r>
          </a:p>
          <a:p>
            <a:r>
              <a:rPr lang="en-US" sz="1000" dirty="0"/>
              <a:t>                     Pioneer                 1062.0</a:t>
            </a:r>
          </a:p>
          <a:p>
            <a:r>
              <a:rPr lang="en-US" sz="1000" dirty="0"/>
              <a:t>                     Tiong Bahru             1065.5</a:t>
            </a:r>
          </a:p>
          <a:p>
            <a:r>
              <a:rPr lang="en-US" sz="1000" dirty="0"/>
              <a:t>                     Kent Ridge              1125.0</a:t>
            </a:r>
          </a:p>
          <a:p>
            <a:r>
              <a:rPr lang="en-US" sz="1000" dirty="0"/>
              <a:t>                     </a:t>
            </a:r>
            <a:r>
              <a:rPr lang="en-US" sz="1000" dirty="0" err="1"/>
              <a:t>Choa</a:t>
            </a:r>
            <a:r>
              <a:rPr lang="en-US" sz="1000" dirty="0"/>
              <a:t> Chu Kang           1157.0</a:t>
            </a:r>
          </a:p>
          <a:p>
            <a:r>
              <a:rPr lang="en-US" sz="1000" dirty="0"/>
              <a:t>                     Botanic Gardens DTL     1192.0</a:t>
            </a:r>
          </a:p>
          <a:p>
            <a:r>
              <a:rPr lang="en-US" sz="1000" dirty="0"/>
              <a:t>                     Outram Park NSEW        1200.0</a:t>
            </a:r>
          </a:p>
          <a:p>
            <a:r>
              <a:rPr lang="en-US" sz="1000" dirty="0"/>
              <a:t>                     </a:t>
            </a:r>
            <a:r>
              <a:rPr lang="en-US" sz="1000" dirty="0" err="1"/>
              <a:t>Joo</a:t>
            </a:r>
            <a:r>
              <a:rPr lang="en-US" sz="1000" dirty="0"/>
              <a:t> Koon                1213.0</a:t>
            </a:r>
          </a:p>
          <a:p>
            <a:r>
              <a:rPr lang="en-US" sz="1000" dirty="0"/>
              <a:t>                     Botanic Gardens CCL     1225.0</a:t>
            </a:r>
          </a:p>
          <a:p>
            <a:r>
              <a:rPr lang="en-US" sz="1000" dirty="0"/>
              <a:t>                     Farrer Road             1254.0</a:t>
            </a:r>
          </a:p>
          <a:p>
            <a:r>
              <a:rPr lang="en-US" sz="1000" dirty="0"/>
              <a:t>                     Outram Park NEL         1315.0</a:t>
            </a:r>
          </a:p>
          <a:p>
            <a:r>
              <a:rPr lang="en-US" sz="1000" dirty="0"/>
              <a:t>                     </a:t>
            </a:r>
            <a:r>
              <a:rPr lang="en-US" sz="1000" dirty="0" err="1"/>
              <a:t>Pasir</a:t>
            </a:r>
            <a:r>
              <a:rPr lang="en-US" sz="1000" dirty="0"/>
              <a:t> Panjang           1320.0</a:t>
            </a:r>
          </a:p>
          <a:p>
            <a:r>
              <a:rPr lang="en-US" sz="1000" dirty="0"/>
              <a:t>                     Yew Tee                 1325.0</a:t>
            </a:r>
          </a:p>
          <a:p>
            <a:r>
              <a:rPr lang="en-US" sz="1000" dirty="0"/>
              <a:t>                     Tanjong </a:t>
            </a:r>
            <a:r>
              <a:rPr lang="en-US" sz="1000" dirty="0" err="1"/>
              <a:t>Pagar</a:t>
            </a:r>
            <a:r>
              <a:rPr lang="en-US" sz="1000" dirty="0"/>
              <a:t>           1355.0</a:t>
            </a:r>
          </a:p>
          <a:p>
            <a:r>
              <a:rPr lang="en-US" sz="1000" dirty="0"/>
              <a:t>                     Caldecott               1404.5</a:t>
            </a:r>
          </a:p>
          <a:p>
            <a:r>
              <a:rPr lang="en-US" sz="1000" dirty="0"/>
              <a:t>                     Labrador Park           1412.5</a:t>
            </a:r>
          </a:p>
          <a:p>
            <a:r>
              <a:rPr lang="en-US" sz="1000" dirty="0"/>
              <a:t>                     Raffles Place           1479.0</a:t>
            </a:r>
          </a:p>
          <a:p>
            <a:r>
              <a:rPr lang="en-US" sz="1000" dirty="0"/>
              <a:t>                     Marymount               1488.0</a:t>
            </a:r>
          </a:p>
          <a:p>
            <a:r>
              <a:rPr lang="en-US" sz="1000" dirty="0"/>
              <a:t>                     </a:t>
            </a:r>
            <a:r>
              <a:rPr lang="en-US" sz="1000" dirty="0" err="1"/>
              <a:t>Kranji</a:t>
            </a:r>
            <a:r>
              <a:rPr lang="en-US" sz="1000" dirty="0"/>
              <a:t>                  1513.0</a:t>
            </a:r>
          </a:p>
          <a:p>
            <a:r>
              <a:rPr lang="en-US" sz="1000" dirty="0"/>
              <a:t>                     Chinatown DTL           1591.0</a:t>
            </a:r>
          </a:p>
          <a:p>
            <a:r>
              <a:rPr lang="en-US" sz="1000" dirty="0"/>
              <a:t>                     Clarke Quay             1596.0</a:t>
            </a:r>
          </a:p>
          <a:p>
            <a:r>
              <a:rPr lang="en-US" sz="1000" dirty="0"/>
              <a:t>                     Chinatown NEL           1598.0</a:t>
            </a:r>
          </a:p>
          <a:p>
            <a:r>
              <a:rPr lang="en-US" sz="1000" dirty="0"/>
              <a:t>                     City Hall               1617.0</a:t>
            </a:r>
          </a:p>
        </p:txBody>
      </p:sp>
      <p:sp>
        <p:nvSpPr>
          <p:cNvPr id="6" name="Rectangle 5">
            <a:extLst>
              <a:ext uri="{FF2B5EF4-FFF2-40B4-BE49-F238E27FC236}">
                <a16:creationId xmlns:a16="http://schemas.microsoft.com/office/drawing/2014/main" id="{44992359-7C6B-5F49-AC04-0F496CD784FD}"/>
              </a:ext>
            </a:extLst>
          </p:cNvPr>
          <p:cNvSpPr/>
          <p:nvPr/>
        </p:nvSpPr>
        <p:spPr>
          <a:xfrm>
            <a:off x="5851020" y="670252"/>
            <a:ext cx="2771688" cy="5786199"/>
          </a:xfrm>
          <a:prstGeom prst="rect">
            <a:avLst/>
          </a:prstGeom>
        </p:spPr>
        <p:txBody>
          <a:bodyPr wrap="square">
            <a:spAutoFit/>
          </a:bodyPr>
          <a:lstStyle/>
          <a:p>
            <a:r>
              <a:rPr lang="en-US" sz="1000" dirty="0"/>
              <a:t>                      Teck </a:t>
            </a:r>
            <a:r>
              <a:rPr lang="en-US" sz="1000" dirty="0" err="1"/>
              <a:t>Whye</a:t>
            </a:r>
            <a:r>
              <a:rPr lang="en-US" sz="1000" dirty="0"/>
              <a:t>               1635.0</a:t>
            </a:r>
          </a:p>
          <a:p>
            <a:r>
              <a:rPr lang="en-US" sz="1000" dirty="0"/>
              <a:t>                     Marsiling               1635.5</a:t>
            </a:r>
          </a:p>
          <a:p>
            <a:r>
              <a:rPr lang="en-US" sz="1000" dirty="0"/>
              <a:t>                     Marina Bay              1679.5</a:t>
            </a:r>
          </a:p>
          <a:p>
            <a:r>
              <a:rPr lang="en-US" sz="1000" dirty="0"/>
              <a:t>                     </a:t>
            </a:r>
            <a:r>
              <a:rPr lang="en-US" sz="1000" dirty="0" err="1"/>
              <a:t>Telok</a:t>
            </a:r>
            <a:r>
              <a:rPr lang="en-US" sz="1000" dirty="0"/>
              <a:t> Blangah           1718.0</a:t>
            </a:r>
          </a:p>
          <a:p>
            <a:r>
              <a:rPr lang="en-US" sz="1000" dirty="0"/>
              <a:t>                     </a:t>
            </a:r>
            <a:r>
              <a:rPr lang="en-US" sz="1000" dirty="0" err="1"/>
              <a:t>Bugis</a:t>
            </a:r>
            <a:r>
              <a:rPr lang="en-US" sz="1000" dirty="0"/>
              <a:t> NSEW              1774.0</a:t>
            </a:r>
          </a:p>
          <a:p>
            <a:r>
              <a:rPr lang="en-US" sz="1000" dirty="0"/>
              <a:t>                     </a:t>
            </a:r>
            <a:r>
              <a:rPr lang="en-US" sz="1000" dirty="0" err="1"/>
              <a:t>HarbourFront</a:t>
            </a:r>
            <a:r>
              <a:rPr lang="en-US" sz="1000" dirty="0"/>
              <a:t> CCL        1780.5</a:t>
            </a:r>
          </a:p>
          <a:p>
            <a:r>
              <a:rPr lang="en-US" sz="1000" dirty="0"/>
              <a:t>                     </a:t>
            </a:r>
            <a:r>
              <a:rPr lang="en-US" sz="1000" dirty="0" err="1"/>
              <a:t>Telok</a:t>
            </a:r>
            <a:r>
              <a:rPr lang="en-US" sz="1000" dirty="0"/>
              <a:t> Ayer              1787.5</a:t>
            </a:r>
          </a:p>
          <a:p>
            <a:r>
              <a:rPr lang="en-US" sz="1000" dirty="0"/>
              <a:t>                     Bishan CCL              1811.5</a:t>
            </a:r>
          </a:p>
          <a:p>
            <a:r>
              <a:rPr lang="en-US" sz="1000" dirty="0"/>
              <a:t>                     </a:t>
            </a:r>
            <a:r>
              <a:rPr lang="en-US" sz="1000" dirty="0" err="1"/>
              <a:t>HarbourFront</a:t>
            </a:r>
            <a:r>
              <a:rPr lang="en-US" sz="1000" dirty="0"/>
              <a:t> NEL        1853.0</a:t>
            </a:r>
          </a:p>
          <a:p>
            <a:r>
              <a:rPr lang="en-US" sz="1000" dirty="0"/>
              <a:t>                     Bukit Panjang BPLRT     1883.0</a:t>
            </a:r>
          </a:p>
          <a:p>
            <a:r>
              <a:rPr lang="en-US" sz="1000" dirty="0"/>
              <a:t>                     </a:t>
            </a:r>
            <a:r>
              <a:rPr lang="en-US" sz="1000" dirty="0" err="1"/>
              <a:t>Bugis</a:t>
            </a:r>
            <a:r>
              <a:rPr lang="en-US" sz="1000" dirty="0"/>
              <a:t> DTL               1883.0</a:t>
            </a:r>
          </a:p>
          <a:p>
            <a:r>
              <a:rPr lang="en-US" sz="1000" dirty="0"/>
              <a:t>                     Lavender                1888.0</a:t>
            </a:r>
          </a:p>
          <a:p>
            <a:r>
              <a:rPr lang="en-US" sz="1000" dirty="0"/>
              <a:t>                     Newton DTL              1889.0</a:t>
            </a:r>
          </a:p>
          <a:p>
            <a:r>
              <a:rPr lang="en-US" sz="1000" dirty="0"/>
              <a:t>                     Lorong </a:t>
            </a:r>
            <a:r>
              <a:rPr lang="en-US" sz="1000" dirty="0" err="1"/>
              <a:t>Chuan</a:t>
            </a:r>
            <a:r>
              <a:rPr lang="en-US" sz="1000" dirty="0"/>
              <a:t>            1894.5</a:t>
            </a:r>
          </a:p>
          <a:p>
            <a:r>
              <a:rPr lang="en-US" sz="1000" dirty="0"/>
              <a:t>                     Little India DTL        1899.0</a:t>
            </a:r>
          </a:p>
          <a:p>
            <a:r>
              <a:rPr lang="en-US" sz="1000" dirty="0"/>
              <a:t>                     Cashew                  1902.0</a:t>
            </a:r>
          </a:p>
          <a:p>
            <a:r>
              <a:rPr lang="en-US" sz="1000" dirty="0"/>
              <a:t>                     </a:t>
            </a:r>
            <a:r>
              <a:rPr lang="en-US" sz="1000" dirty="0" err="1"/>
              <a:t>Dhoby</a:t>
            </a:r>
            <a:r>
              <a:rPr lang="en-US" sz="1000" dirty="0"/>
              <a:t> </a:t>
            </a:r>
            <a:r>
              <a:rPr lang="en-US" sz="1000" dirty="0" err="1"/>
              <a:t>Ghaut</a:t>
            </a:r>
            <a:r>
              <a:rPr lang="en-US" sz="1000" dirty="0"/>
              <a:t> NSEW        1920.0</a:t>
            </a:r>
          </a:p>
          <a:p>
            <a:r>
              <a:rPr lang="en-US" sz="1000" dirty="0"/>
              <a:t>                     </a:t>
            </a:r>
            <a:r>
              <a:rPr lang="en-US" sz="1000" dirty="0" err="1"/>
              <a:t>Rochor</a:t>
            </a:r>
            <a:r>
              <a:rPr lang="en-US" sz="1000" dirty="0"/>
              <a:t>                  1921.0</a:t>
            </a:r>
          </a:p>
          <a:p>
            <a:r>
              <a:rPr lang="en-US" sz="1000" dirty="0"/>
              <a:t>                     Woodlands               1940.0</a:t>
            </a:r>
          </a:p>
          <a:p>
            <a:r>
              <a:rPr lang="en-US" sz="1000" dirty="0"/>
              <a:t>                     Somerset                1943.0</a:t>
            </a:r>
          </a:p>
          <a:p>
            <a:r>
              <a:rPr lang="en-US" sz="1000" dirty="0"/>
              <a:t>                     Little India NEL        1973.0</a:t>
            </a:r>
          </a:p>
          <a:p>
            <a:r>
              <a:rPr lang="en-US" sz="1000" dirty="0"/>
              <a:t>                     </a:t>
            </a:r>
            <a:r>
              <a:rPr lang="en-US" sz="1000" dirty="0" err="1"/>
              <a:t>Dhoby</a:t>
            </a:r>
            <a:r>
              <a:rPr lang="en-US" sz="1000" dirty="0"/>
              <a:t> </a:t>
            </a:r>
            <a:r>
              <a:rPr lang="en-US" sz="1000" dirty="0" err="1"/>
              <a:t>Ghaut</a:t>
            </a:r>
            <a:r>
              <a:rPr lang="en-US" sz="1000" dirty="0"/>
              <a:t> NEL         1994.0</a:t>
            </a:r>
          </a:p>
          <a:p>
            <a:r>
              <a:rPr lang="en-US" sz="1000" dirty="0"/>
              <a:t>                     Kallang                 2021.0</a:t>
            </a:r>
          </a:p>
          <a:p>
            <a:r>
              <a:rPr lang="en-US" sz="1000" dirty="0"/>
              <a:t>                     Serangoon CCL           2023.5</a:t>
            </a:r>
          </a:p>
          <a:p>
            <a:r>
              <a:rPr lang="en-US" sz="1000" dirty="0"/>
              <a:t>                     Downtown                2026.0</a:t>
            </a:r>
          </a:p>
          <a:p>
            <a:r>
              <a:rPr lang="en-US" sz="1000" dirty="0"/>
              <a:t>                     Admiralty               2057.0</a:t>
            </a:r>
          </a:p>
          <a:p>
            <a:r>
              <a:rPr lang="en-US" sz="1000" dirty="0"/>
              <a:t>                     Farrer Park             2084.0</a:t>
            </a:r>
          </a:p>
          <a:p>
            <a:r>
              <a:rPr lang="en-US" sz="1000" dirty="0"/>
              <a:t>                     Orchard                 2092.0</a:t>
            </a:r>
          </a:p>
          <a:p>
            <a:r>
              <a:rPr lang="en-US" sz="1000" dirty="0"/>
              <a:t>                     </a:t>
            </a:r>
            <a:r>
              <a:rPr lang="en-US" sz="1000" dirty="0" err="1"/>
              <a:t>Aljunied</a:t>
            </a:r>
            <a:r>
              <a:rPr lang="en-US" sz="1000" dirty="0"/>
              <a:t>                2129.0</a:t>
            </a:r>
          </a:p>
          <a:p>
            <a:r>
              <a:rPr lang="en-US" sz="1000" dirty="0"/>
              <a:t>                     Bras </a:t>
            </a:r>
            <a:r>
              <a:rPr lang="en-US" sz="1000" dirty="0" err="1"/>
              <a:t>Basah</a:t>
            </a:r>
            <a:r>
              <a:rPr lang="en-US" sz="1000" dirty="0"/>
              <a:t>              2178.5</a:t>
            </a:r>
          </a:p>
          <a:p>
            <a:r>
              <a:rPr lang="en-US" sz="1000" dirty="0"/>
              <a:t>                     Boon </a:t>
            </a:r>
            <a:r>
              <a:rPr lang="en-US" sz="1000" dirty="0" err="1"/>
              <a:t>Keng</a:t>
            </a:r>
            <a:r>
              <a:rPr lang="en-US" sz="1000" dirty="0"/>
              <a:t>               2253.0</a:t>
            </a:r>
          </a:p>
          <a:p>
            <a:r>
              <a:rPr lang="en-US" sz="1000" dirty="0"/>
              <a:t>                     Marina South Pier       2264.0</a:t>
            </a:r>
          </a:p>
          <a:p>
            <a:r>
              <a:rPr lang="en-US" sz="1000" dirty="0"/>
              <a:t>                     </a:t>
            </a:r>
            <a:r>
              <a:rPr lang="en-US" sz="1000" dirty="0" err="1"/>
              <a:t>Paya</a:t>
            </a:r>
            <a:r>
              <a:rPr lang="en-US" sz="1000" dirty="0"/>
              <a:t> </a:t>
            </a:r>
            <a:r>
              <a:rPr lang="en-US" sz="1000" dirty="0" err="1"/>
              <a:t>Lebar</a:t>
            </a:r>
            <a:r>
              <a:rPr lang="en-US" sz="1000" dirty="0"/>
              <a:t> NSEW         2264.5</a:t>
            </a:r>
          </a:p>
          <a:p>
            <a:r>
              <a:rPr lang="en-US" sz="1000" dirty="0"/>
              <a:t>                     Bayfront CCL            2267.0</a:t>
            </a:r>
          </a:p>
          <a:p>
            <a:r>
              <a:rPr lang="en-US" sz="1000" dirty="0"/>
              <a:t>                     Newton NSEW             2270.5</a:t>
            </a:r>
          </a:p>
          <a:p>
            <a:r>
              <a:rPr lang="en-US" sz="1000" dirty="0"/>
              <a:t>                     Tai Seng                2277.5</a:t>
            </a:r>
          </a:p>
          <a:p>
            <a:r>
              <a:rPr lang="en-US" sz="1000" dirty="0"/>
              <a:t>                     </a:t>
            </a:r>
          </a:p>
        </p:txBody>
      </p:sp>
      <p:sp>
        <p:nvSpPr>
          <p:cNvPr id="7" name="Rectangle 6">
            <a:extLst>
              <a:ext uri="{FF2B5EF4-FFF2-40B4-BE49-F238E27FC236}">
                <a16:creationId xmlns:a16="http://schemas.microsoft.com/office/drawing/2014/main" id="{BD17A917-8FB0-924A-B87F-A669EC626348}"/>
              </a:ext>
            </a:extLst>
          </p:cNvPr>
          <p:cNvSpPr/>
          <p:nvPr/>
        </p:nvSpPr>
        <p:spPr>
          <a:xfrm>
            <a:off x="8622708" y="978028"/>
            <a:ext cx="3048000" cy="5324535"/>
          </a:xfrm>
          <a:prstGeom prst="rect">
            <a:avLst/>
          </a:prstGeom>
        </p:spPr>
        <p:txBody>
          <a:bodyPr wrap="square">
            <a:spAutoFit/>
          </a:bodyPr>
          <a:lstStyle/>
          <a:p>
            <a:r>
              <a:rPr lang="en-US" sz="1000" dirty="0"/>
              <a:t>                     Toa </a:t>
            </a:r>
            <a:r>
              <a:rPr lang="en-US" sz="1000" dirty="0" err="1"/>
              <a:t>Payoh</a:t>
            </a:r>
            <a:r>
              <a:rPr lang="en-US" sz="1000" dirty="0"/>
              <a:t>               2278.0</a:t>
            </a:r>
          </a:p>
          <a:p>
            <a:r>
              <a:rPr lang="en-US" sz="1000" dirty="0"/>
              <a:t>                     Novena                  2323.0</a:t>
            </a:r>
          </a:p>
          <a:p>
            <a:r>
              <a:rPr lang="en-US" sz="1000" dirty="0"/>
              <a:t>                     Nicoll Highway          2334.0</a:t>
            </a:r>
          </a:p>
          <a:p>
            <a:r>
              <a:rPr lang="en-US" sz="1000" dirty="0"/>
              <a:t>                     Promenade               2351.0</a:t>
            </a:r>
          </a:p>
          <a:p>
            <a:r>
              <a:rPr lang="en-US" sz="1000" dirty="0"/>
              <a:t>                     Eunos                   2360.0</a:t>
            </a:r>
          </a:p>
          <a:p>
            <a:r>
              <a:rPr lang="en-US" sz="1000" dirty="0"/>
              <a:t>                     Sembawang               2360.5</a:t>
            </a:r>
          </a:p>
          <a:p>
            <a:r>
              <a:rPr lang="en-US" sz="1000" dirty="0"/>
              <a:t>                     </a:t>
            </a:r>
            <a:r>
              <a:rPr lang="en-US" sz="1000" dirty="0" err="1"/>
              <a:t>Yio</a:t>
            </a:r>
            <a:r>
              <a:rPr lang="en-US" sz="1000" dirty="0"/>
              <a:t> Chu Kang            2380.0</a:t>
            </a:r>
          </a:p>
          <a:p>
            <a:r>
              <a:rPr lang="en-US" sz="1000" dirty="0"/>
              <a:t>                     </a:t>
            </a:r>
            <a:r>
              <a:rPr lang="en-US" sz="1000" dirty="0" err="1"/>
              <a:t>Fajar</a:t>
            </a:r>
            <a:r>
              <a:rPr lang="en-US" sz="1000" dirty="0"/>
              <a:t>                   2431.0</a:t>
            </a:r>
          </a:p>
          <a:p>
            <a:r>
              <a:rPr lang="en-US" sz="1000" dirty="0"/>
              <a:t>                     </a:t>
            </a:r>
            <a:r>
              <a:rPr lang="en-US" sz="1000" dirty="0" err="1"/>
              <a:t>Braddell</a:t>
            </a:r>
            <a:r>
              <a:rPr lang="en-US" sz="1000" dirty="0"/>
              <a:t>                2446.5</a:t>
            </a:r>
          </a:p>
          <a:p>
            <a:r>
              <a:rPr lang="en-US" sz="1000" dirty="0"/>
              <a:t>                     Yishun                  2457.0</a:t>
            </a:r>
          </a:p>
          <a:p>
            <a:r>
              <a:rPr lang="en-US" sz="1000" dirty="0"/>
              <a:t>                     </a:t>
            </a:r>
            <a:r>
              <a:rPr lang="en-US" sz="1000" dirty="0" err="1"/>
              <a:t>Paya</a:t>
            </a:r>
            <a:r>
              <a:rPr lang="en-US" sz="1000" dirty="0"/>
              <a:t> </a:t>
            </a:r>
            <a:r>
              <a:rPr lang="en-US" sz="1000" dirty="0" err="1"/>
              <a:t>Lebar</a:t>
            </a:r>
            <a:r>
              <a:rPr lang="en-US" sz="1000" dirty="0"/>
              <a:t> CCL          2499.0</a:t>
            </a:r>
          </a:p>
          <a:p>
            <a:r>
              <a:rPr lang="en-US" sz="1000" dirty="0"/>
              <a:t>                     Kembangan               2551.5</a:t>
            </a:r>
          </a:p>
          <a:p>
            <a:r>
              <a:rPr lang="en-US" sz="1000" dirty="0"/>
              <a:t>                     Dakota                  2597.0</a:t>
            </a:r>
          </a:p>
          <a:p>
            <a:r>
              <a:rPr lang="en-US" sz="1000" dirty="0"/>
              <a:t>                     MacPherson CCL          2606.0</a:t>
            </a:r>
          </a:p>
          <a:p>
            <a:r>
              <a:rPr lang="en-US" sz="1000" dirty="0"/>
              <a:t>                     </a:t>
            </a:r>
            <a:r>
              <a:rPr lang="en-US" sz="1000" dirty="0" err="1"/>
              <a:t>Potong</a:t>
            </a:r>
            <a:r>
              <a:rPr lang="en-US" sz="1000" dirty="0"/>
              <a:t> </a:t>
            </a:r>
            <a:r>
              <a:rPr lang="en-US" sz="1000" dirty="0" err="1"/>
              <a:t>Pasir</a:t>
            </a:r>
            <a:r>
              <a:rPr lang="en-US" sz="1000" dirty="0"/>
              <a:t>            2654.0</a:t>
            </a:r>
          </a:p>
          <a:p>
            <a:r>
              <a:rPr lang="en-US" sz="1000" dirty="0"/>
              <a:t>                     Serangoon NEL           2704.0</a:t>
            </a:r>
          </a:p>
          <a:p>
            <a:r>
              <a:rPr lang="en-US" sz="1000" dirty="0"/>
              <a:t>                     </a:t>
            </a:r>
            <a:r>
              <a:rPr lang="en-US" sz="1000" dirty="0" err="1"/>
              <a:t>Hougang</a:t>
            </a:r>
            <a:r>
              <a:rPr lang="en-US" sz="1000" dirty="0"/>
              <a:t>                 2725.0</a:t>
            </a:r>
          </a:p>
          <a:p>
            <a:r>
              <a:rPr lang="en-US" sz="1000" dirty="0"/>
              <a:t>                     Bayfront DTL            2747.0</a:t>
            </a:r>
          </a:p>
          <a:p>
            <a:r>
              <a:rPr lang="en-US" sz="1000" dirty="0"/>
              <a:t>                     Bedok                   2767.0</a:t>
            </a:r>
          </a:p>
          <a:p>
            <a:r>
              <a:rPr lang="en-US" sz="1000" dirty="0"/>
              <a:t>                     Stadium                 2850.0</a:t>
            </a:r>
          </a:p>
          <a:p>
            <a:r>
              <a:rPr lang="en-US" sz="1000" dirty="0"/>
              <a:t>                     </a:t>
            </a:r>
            <a:r>
              <a:rPr lang="en-US" sz="1000" dirty="0" err="1"/>
              <a:t>Kovan</a:t>
            </a:r>
            <a:r>
              <a:rPr lang="en-US" sz="1000" dirty="0"/>
              <a:t>                   2858.5</a:t>
            </a:r>
          </a:p>
          <a:p>
            <a:r>
              <a:rPr lang="en-US" sz="1000" dirty="0"/>
              <a:t>                     Tanah Merah             2964.0</a:t>
            </a:r>
          </a:p>
          <a:p>
            <a:r>
              <a:rPr lang="en-US" sz="1000" dirty="0"/>
              <a:t>                     Ang Mo Kio              2979.0</a:t>
            </a:r>
          </a:p>
          <a:p>
            <a:r>
              <a:rPr lang="en-US" sz="1000" dirty="0"/>
              <a:t>                     Mountbatten             3024.0</a:t>
            </a:r>
          </a:p>
          <a:p>
            <a:r>
              <a:rPr lang="en-US" sz="1000" dirty="0"/>
              <a:t>                     Khatib                  3032.0</a:t>
            </a:r>
          </a:p>
          <a:p>
            <a:r>
              <a:rPr lang="en-US" sz="1000" dirty="0"/>
              <a:t>                     </a:t>
            </a:r>
            <a:r>
              <a:rPr lang="en-US" sz="1000" dirty="0" err="1"/>
              <a:t>Simei</a:t>
            </a:r>
            <a:r>
              <a:rPr lang="en-US" sz="1000" dirty="0"/>
              <a:t>                   3150.0</a:t>
            </a:r>
          </a:p>
          <a:p>
            <a:r>
              <a:rPr lang="en-US" sz="1000" dirty="0"/>
              <a:t>                     Tampines NSEW           3208.5</a:t>
            </a:r>
          </a:p>
          <a:p>
            <a:r>
              <a:rPr lang="en-US" sz="1000" dirty="0"/>
              <a:t>                     Punggol                 3256.5</a:t>
            </a:r>
          </a:p>
          <a:p>
            <a:r>
              <a:rPr lang="en-US" sz="1000" dirty="0"/>
              <a:t>                     Expo NSEW               3348.0</a:t>
            </a:r>
          </a:p>
          <a:p>
            <a:r>
              <a:rPr lang="en-US" sz="1000" dirty="0"/>
              <a:t>                     Meridian                3570.0</a:t>
            </a:r>
          </a:p>
          <a:p>
            <a:r>
              <a:rPr lang="en-US" sz="1000" dirty="0"/>
              <a:t>                     Changi Airport          3747.0</a:t>
            </a:r>
          </a:p>
          <a:p>
            <a:r>
              <a:rPr lang="en-US" sz="1000" dirty="0"/>
              <a:t>                     </a:t>
            </a:r>
            <a:r>
              <a:rPr lang="en-US" sz="1000" dirty="0" err="1"/>
              <a:t>Pasir</a:t>
            </a:r>
            <a:r>
              <a:rPr lang="en-US" sz="1000" dirty="0"/>
              <a:t> </a:t>
            </a:r>
            <a:r>
              <a:rPr lang="en-US" sz="1000" dirty="0" err="1"/>
              <a:t>Ris</a:t>
            </a:r>
            <a:r>
              <a:rPr lang="en-US" sz="1000" dirty="0"/>
              <a:t>               3857.0</a:t>
            </a:r>
          </a:p>
          <a:p>
            <a:r>
              <a:rPr lang="en-US" sz="1000" dirty="0"/>
              <a:t>                     </a:t>
            </a:r>
            <a:r>
              <a:rPr lang="en-US" sz="1000" dirty="0" err="1"/>
              <a:t>Fernvale</a:t>
            </a:r>
            <a:r>
              <a:rPr lang="en-US" sz="1000" dirty="0"/>
              <a:t>                4270.0</a:t>
            </a:r>
          </a:p>
          <a:p>
            <a:r>
              <a:rPr lang="en-US" sz="1000" dirty="0"/>
              <a:t>                     </a:t>
            </a:r>
            <a:r>
              <a:rPr lang="en-US" sz="1000" dirty="0" err="1"/>
              <a:t>Compassvale</a:t>
            </a:r>
            <a:r>
              <a:rPr lang="en-US" sz="1000" dirty="0"/>
              <a:t>             4551.0</a:t>
            </a:r>
          </a:p>
        </p:txBody>
      </p:sp>
    </p:spTree>
    <p:extLst>
      <p:ext uri="{BB962C8B-B14F-4D97-AF65-F5344CB8AC3E}">
        <p14:creationId xmlns:p14="http://schemas.microsoft.com/office/powerpoint/2010/main" val="139314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8EAB4D-297D-B342-A59F-6CAA9EB0247D}"/>
              </a:ext>
            </a:extLst>
          </p:cNvPr>
          <p:cNvSpPr/>
          <p:nvPr/>
        </p:nvSpPr>
        <p:spPr>
          <a:xfrm>
            <a:off x="731520" y="844805"/>
            <a:ext cx="8811873" cy="3450175"/>
          </a:xfrm>
          <a:prstGeom prst="rect">
            <a:avLst/>
          </a:prstGeom>
        </p:spPr>
        <p:txBody>
          <a:bodyPr wrap="square">
            <a:spAutoFit/>
          </a:bodyPr>
          <a:lstStyle/>
          <a:p>
            <a:pPr indent="-228600">
              <a:lnSpc>
                <a:spcPct val="90000"/>
              </a:lnSpc>
              <a:spcAft>
                <a:spcPts val="600"/>
              </a:spcAft>
              <a:buFont typeface="Arial" panose="020B0604020202020204" pitchFamily="34" charset="0"/>
              <a:buChar char="•"/>
            </a:pPr>
            <a:r>
              <a:rPr lang="en-US" dirty="0"/>
              <a:t>We can solve this </a:t>
            </a:r>
            <a:r>
              <a:rPr lang="en-US" dirty="0" err="1"/>
              <a:t>bidirection</a:t>
            </a:r>
            <a:r>
              <a:rPr lang="en-US" dirty="0"/>
              <a:t> issue, if we validate the duration. For example:</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dirty="0"/>
              <a:t>Clementi -&gt; Dover takes 403 seconds, then Clementi -&gt; Jurong East 435 Seconds implying a network such as Clementi -&gt; Dover -&gt; Jurong East</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dirty="0"/>
              <a:t>If we validate that Jurong East -&gt; Dover is longer than Clementi -&gt; Dover, we can be sure that Jurong East is the other direction Jurong East &lt;- Clementi -&gt; Dover</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p:txBody>
      </p:sp>
    </p:spTree>
    <p:extLst>
      <p:ext uri="{BB962C8B-B14F-4D97-AF65-F5344CB8AC3E}">
        <p14:creationId xmlns:p14="http://schemas.microsoft.com/office/powerpoint/2010/main" val="3195474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1074</Words>
  <Application>Microsoft Macintosh PowerPoint</Application>
  <PresentationFormat>Widescreen</PresentationFormat>
  <Paragraphs>135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 Eng S.</dc:creator>
  <cp:lastModifiedBy>Ng, Eng S.</cp:lastModifiedBy>
  <cp:revision>10</cp:revision>
  <dcterms:created xsi:type="dcterms:W3CDTF">2020-03-29T03:39:55Z</dcterms:created>
  <dcterms:modified xsi:type="dcterms:W3CDTF">2020-03-29T07:33:51Z</dcterms:modified>
</cp:coreProperties>
</file>